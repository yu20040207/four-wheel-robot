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229235"/>
            <a:ext cx="372618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>
                <a:solidFill>
                  <a:schemeClr val="tx1"/>
                </a:solidFill>
                <a:effectLst/>
              </a:rPr>
              <a:t>OpenMV</a:t>
            </a:r>
            <a:r>
              <a:rPr lang="en-US" altLang="zh-CN">
                <a:solidFill>
                  <a:schemeClr val="tx1"/>
                </a:solidFill>
                <a:effectLst/>
              </a:rPr>
              <a:t>+9g</a:t>
            </a:r>
            <a:r>
              <a:rPr lang="zh-CN" altLang="en-US">
                <a:solidFill>
                  <a:schemeClr val="tx1"/>
                </a:solidFill>
                <a:effectLst/>
              </a:rPr>
              <a:t>二维云台</a:t>
            </a:r>
            <a:endParaRPr lang="zh-CN" altLang="en-US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554355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861060"/>
            <a:ext cx="3262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第一步：组装扩展板到二维云台上</a:t>
            </a:r>
            <a:endParaRPr lang="zh-CN" altLang="en-US" sz="1400" b="1"/>
          </a:p>
        </p:txBody>
      </p:sp>
      <p:sp>
        <p:nvSpPr>
          <p:cNvPr id="9" name="文本框 8"/>
          <p:cNvSpPr txBox="1"/>
          <p:nvPr/>
        </p:nvSpPr>
        <p:spPr>
          <a:xfrm>
            <a:off x="542925" y="8794750"/>
            <a:ext cx="28879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注意事项</a:t>
            </a:r>
            <a:endParaRPr lang="zh-CN" altLang="en-US" sz="1400" b="1"/>
          </a:p>
        </p:txBody>
      </p:sp>
      <p:sp>
        <p:nvSpPr>
          <p:cNvPr id="19" name="文本框 18"/>
          <p:cNvSpPr txBox="1"/>
          <p:nvPr/>
        </p:nvSpPr>
        <p:spPr>
          <a:xfrm>
            <a:off x="541655" y="1173480"/>
            <a:ext cx="560324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/>
              <a:t>具体组装方法可参考文档【</a:t>
            </a:r>
            <a:r>
              <a:rPr lang="en-US" altLang="zh-CN" sz="1000" b="1"/>
              <a:t>1.12</a:t>
            </a:r>
            <a:r>
              <a:rPr lang="zh-CN" altLang="en-US" sz="1000" b="1"/>
              <a:t>、</a:t>
            </a:r>
            <a:r>
              <a:rPr lang="en-US" altLang="zh-CN" sz="1000" b="1"/>
              <a:t>OpenMV</a:t>
            </a:r>
            <a:r>
              <a:rPr lang="zh-CN" altLang="en-US" sz="1000" b="1"/>
              <a:t>在</a:t>
            </a:r>
            <a:r>
              <a:rPr lang="en-US" altLang="zh-CN" sz="1000" b="1"/>
              <a:t>9g</a:t>
            </a:r>
            <a:r>
              <a:rPr lang="zh-CN" altLang="en-US" sz="1000" b="1"/>
              <a:t>二维云台上的应用</a:t>
            </a:r>
            <a:r>
              <a:rPr lang="zh-CN" altLang="en-US" sz="1000"/>
              <a:t>】。</a:t>
            </a:r>
            <a:endParaRPr lang="zh-CN" altLang="en-US" sz="1000"/>
          </a:p>
        </p:txBody>
      </p:sp>
      <p:sp>
        <p:nvSpPr>
          <p:cNvPr id="11" name="文本框 10"/>
          <p:cNvSpPr txBox="1"/>
          <p:nvPr/>
        </p:nvSpPr>
        <p:spPr>
          <a:xfrm>
            <a:off x="542925" y="1434465"/>
            <a:ext cx="3262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第二步：云台舵机</a:t>
            </a:r>
            <a:r>
              <a:rPr lang="zh-CN" altLang="en-US" sz="1400" b="1"/>
              <a:t>接线</a:t>
            </a:r>
            <a:endParaRPr lang="zh-CN" altLang="en-US" sz="1400" b="1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1890" y="1946910"/>
            <a:ext cx="4553585" cy="17538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42925" y="1741170"/>
            <a:ext cx="560324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000"/>
              <a:t>注意舵机线序：红接正，棕接负，橙接</a:t>
            </a:r>
            <a:r>
              <a:rPr lang="zh-CN" altLang="en-US" sz="1000"/>
              <a:t>信号。</a:t>
            </a:r>
            <a:endParaRPr lang="zh-CN" altLang="en-US" sz="1000"/>
          </a:p>
        </p:txBody>
      </p:sp>
      <p:sp>
        <p:nvSpPr>
          <p:cNvPr id="20" name="文本框 19"/>
          <p:cNvSpPr txBox="1"/>
          <p:nvPr/>
        </p:nvSpPr>
        <p:spPr>
          <a:xfrm>
            <a:off x="542925" y="3676015"/>
            <a:ext cx="3262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第三步：</a:t>
            </a:r>
            <a:r>
              <a:rPr lang="zh-CN" altLang="en-US" sz="1400" b="1"/>
              <a:t>供电</a:t>
            </a:r>
            <a:endParaRPr lang="zh-CN" altLang="en-US" sz="1400" b="1"/>
          </a:p>
        </p:txBody>
      </p:sp>
      <p:sp>
        <p:nvSpPr>
          <p:cNvPr id="21" name="文本框 20"/>
          <p:cNvSpPr txBox="1"/>
          <p:nvPr/>
        </p:nvSpPr>
        <p:spPr>
          <a:xfrm>
            <a:off x="542925" y="3919855"/>
            <a:ext cx="2547620" cy="1039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1000"/>
              <a:t>先将两节</a:t>
            </a:r>
            <a:r>
              <a:rPr lang="en-US" altLang="zh-CN" sz="1000"/>
              <a:t>14500</a:t>
            </a:r>
            <a:r>
              <a:rPr lang="zh-CN" altLang="en-US" sz="1000"/>
              <a:t>电池装到电池盒中（注意电池的凸出端都是贴着电池盒弹簧一侧的），然后再将电池盒的供电端子插到</a:t>
            </a:r>
            <a:r>
              <a:rPr lang="en-US" altLang="zh-CN" sz="1000"/>
              <a:t>OpenMV</a:t>
            </a:r>
            <a:r>
              <a:rPr lang="zh-CN" altLang="en-US" sz="1000"/>
              <a:t>扩展板上的电源接口供电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pic>
        <p:nvPicPr>
          <p:cNvPr id="22" name="图片 3"/>
          <p:cNvPicPr>
            <a:picLocks noChangeAspect="1"/>
          </p:cNvPicPr>
          <p:nvPr/>
        </p:nvPicPr>
        <p:blipFill>
          <a:blip r:embed="rId2"/>
          <a:srcRect t="2808" b="5882"/>
          <a:stretch>
            <a:fillRect/>
          </a:stretch>
        </p:blipFill>
        <p:spPr>
          <a:xfrm>
            <a:off x="3429635" y="3700780"/>
            <a:ext cx="2453005" cy="125857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文本框 22"/>
          <p:cNvSpPr txBox="1"/>
          <p:nvPr/>
        </p:nvSpPr>
        <p:spPr>
          <a:xfrm>
            <a:off x="542925" y="5050155"/>
            <a:ext cx="4344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第四步：</a:t>
            </a:r>
            <a:r>
              <a:rPr lang="en-US" altLang="zh-CN" sz="1400" b="1"/>
              <a:t>OpenMV</a:t>
            </a:r>
            <a:r>
              <a:rPr lang="zh-CN" altLang="en-US" sz="1400" b="1"/>
              <a:t>插到扩展板</a:t>
            </a:r>
            <a:r>
              <a:rPr lang="zh-CN" altLang="en-US" sz="1400" b="1"/>
              <a:t>上</a:t>
            </a:r>
            <a:endParaRPr lang="zh-CN" altLang="en-US" sz="1400" b="1"/>
          </a:p>
        </p:txBody>
      </p:sp>
      <p:sp>
        <p:nvSpPr>
          <p:cNvPr id="24" name="文本框 23"/>
          <p:cNvSpPr txBox="1"/>
          <p:nvPr/>
        </p:nvSpPr>
        <p:spPr>
          <a:xfrm>
            <a:off x="542925" y="5280660"/>
            <a:ext cx="2547620" cy="666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zh-CN" altLang="en-US" sz="1000"/>
              <a:t>将</a:t>
            </a:r>
            <a:r>
              <a:rPr lang="en-US" altLang="zh-CN" sz="1000"/>
              <a:t>OpenMV</a:t>
            </a:r>
            <a:r>
              <a:rPr lang="zh-CN" altLang="en-US" sz="1000"/>
              <a:t>插到扩展板上，注意方向且针脚要对应一一插入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pic>
        <p:nvPicPr>
          <p:cNvPr id="25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635" y="5009515"/>
            <a:ext cx="2420620" cy="112839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542925" y="6071870"/>
            <a:ext cx="4344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第五步：颜色跟随功能</a:t>
            </a:r>
            <a:r>
              <a:rPr lang="zh-CN" altLang="en-US" sz="1400" b="1"/>
              <a:t>测试</a:t>
            </a:r>
            <a:endParaRPr lang="zh-CN" altLang="en-US" sz="1400" b="1"/>
          </a:p>
        </p:txBody>
      </p:sp>
      <p:sp>
        <p:nvSpPr>
          <p:cNvPr id="27" name="文本框 26"/>
          <p:cNvSpPr txBox="1"/>
          <p:nvPr/>
        </p:nvSpPr>
        <p:spPr>
          <a:xfrm>
            <a:off x="542925" y="6268085"/>
            <a:ext cx="5445125" cy="874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60000"/>
              </a:lnSpc>
            </a:pPr>
            <a:r>
              <a:rPr lang="en-US" sz="1000"/>
              <a:t>OpenMV</a:t>
            </a:r>
            <a:r>
              <a:rPr lang="zh-CN" altLang="en-US" sz="1000"/>
              <a:t>默认出厂下载的是颜色跟随代码，默认二维云台跟随红色物体</a:t>
            </a:r>
            <a:r>
              <a:rPr lang="zh-CN" altLang="en-US" sz="1000"/>
              <a:t>转动。</a:t>
            </a:r>
            <a:endParaRPr lang="zh-CN" altLang="en-US" sz="1000"/>
          </a:p>
          <a:p>
            <a:pPr>
              <a:lnSpc>
                <a:spcPct val="160000"/>
              </a:lnSpc>
            </a:pPr>
            <a:r>
              <a:rPr lang="zh-CN" altLang="en-US" sz="1000"/>
              <a:t>可以将</a:t>
            </a:r>
            <a:r>
              <a:rPr lang="en-US" altLang="zh-CN" sz="1000"/>
              <a:t>OpenMV</a:t>
            </a:r>
            <a:r>
              <a:rPr lang="zh-CN" altLang="en-US" sz="1000"/>
              <a:t>的摄像头盖帽取下来，然后用一个红色物体在摄像头前方慢慢移动（注意找一个环境光线良好且背景没有相同颜色物体干扰</a:t>
            </a:r>
            <a:r>
              <a:rPr lang="zh-CN" altLang="en-US" sz="1000">
                <a:sym typeface="+mn-ea"/>
              </a:rPr>
              <a:t>的地方测试</a:t>
            </a:r>
            <a:r>
              <a:rPr lang="zh-CN" altLang="en-US" sz="1000"/>
              <a:t>），查看二维云台是否跟随</a:t>
            </a:r>
            <a:r>
              <a:rPr lang="zh-CN" altLang="en-US" sz="1000"/>
              <a:t>转动。</a:t>
            </a:r>
            <a:endParaRPr lang="zh-CN" altLang="en-US" sz="100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330" y="7093585"/>
            <a:ext cx="2616835" cy="180848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541655" y="7144385"/>
            <a:ext cx="434467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第六步：关于</a:t>
            </a:r>
            <a:r>
              <a:rPr lang="zh-CN" altLang="en-US" sz="1400" b="1"/>
              <a:t>充电</a:t>
            </a:r>
            <a:endParaRPr lang="zh-CN" altLang="en-US" sz="1400" b="1"/>
          </a:p>
        </p:txBody>
      </p:sp>
      <p:sp>
        <p:nvSpPr>
          <p:cNvPr id="30" name="文本框 29"/>
          <p:cNvSpPr txBox="1"/>
          <p:nvPr/>
        </p:nvSpPr>
        <p:spPr>
          <a:xfrm>
            <a:off x="541020" y="7363460"/>
            <a:ext cx="2887345" cy="1001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80000"/>
              </a:lnSpc>
            </a:pPr>
            <a:r>
              <a:rPr lang="zh-CN" altLang="en-US" sz="1000">
                <a:sym typeface="+mn-ea"/>
              </a:rPr>
              <a:t>将电池卡到充电器上（注意电池方向，如右图所示），再将充电器插到插排上充电即可（充电指示灯在充电时显示红灯，充满后显示为绿灯）。</a:t>
            </a:r>
            <a:endParaRPr lang="zh-CN" altLang="en-US" sz="1000"/>
          </a:p>
        </p:txBody>
      </p:sp>
      <p:sp>
        <p:nvSpPr>
          <p:cNvPr id="32" name="文本框 31"/>
          <p:cNvSpPr txBox="1"/>
          <p:nvPr/>
        </p:nvSpPr>
        <p:spPr>
          <a:xfrm>
            <a:off x="542925" y="8995410"/>
            <a:ext cx="5949950" cy="773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000">
                <a:sym typeface="+mn-ea"/>
              </a:rPr>
              <a:t>1. </a:t>
            </a:r>
            <a:r>
              <a:rPr lang="zh-CN" altLang="en-US" sz="1000">
                <a:sym typeface="+mn-ea"/>
              </a:rPr>
              <a:t>产品拿到手先试一下上述功能，保证硬件到手是完好的再继续使用，如有问题，请立即联系客服</a:t>
            </a:r>
            <a:r>
              <a:rPr lang="zh-CN" altLang="en-US" sz="1000">
                <a:sym typeface="+mn-ea"/>
              </a:rPr>
              <a:t>处理！</a:t>
            </a:r>
            <a:endParaRPr lang="zh-CN" altLang="en-US" sz="1000"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000">
                <a:sym typeface="+mn-ea"/>
              </a:rPr>
              <a:t>2. </a:t>
            </a:r>
            <a:r>
              <a:rPr lang="zh-CN" altLang="en-US" sz="1000">
                <a:sym typeface="+mn-ea"/>
              </a:rPr>
              <a:t>关于本实验更详细的内容可以参考文档</a:t>
            </a:r>
            <a:r>
              <a:rPr lang="zh-CN" altLang="en-US" sz="1000">
                <a:sym typeface="+mn-ea"/>
              </a:rPr>
              <a:t>【</a:t>
            </a:r>
            <a:r>
              <a:rPr lang="en-US" altLang="zh-CN" sz="1000" b="1">
                <a:sym typeface="+mn-ea"/>
              </a:rPr>
              <a:t>1.12</a:t>
            </a:r>
            <a:r>
              <a:rPr lang="zh-CN" altLang="en-US" sz="1000" b="1">
                <a:sym typeface="+mn-ea"/>
              </a:rPr>
              <a:t>、</a:t>
            </a:r>
            <a:r>
              <a:rPr lang="en-US" altLang="zh-CN" sz="1000" b="1">
                <a:sym typeface="+mn-ea"/>
              </a:rPr>
              <a:t>OpenMV</a:t>
            </a:r>
            <a:r>
              <a:rPr lang="zh-CN" altLang="en-US" sz="1000" b="1">
                <a:sym typeface="+mn-ea"/>
              </a:rPr>
              <a:t>在</a:t>
            </a:r>
            <a:r>
              <a:rPr lang="en-US" altLang="zh-CN" sz="1000" b="1">
                <a:sym typeface="+mn-ea"/>
              </a:rPr>
              <a:t>9g</a:t>
            </a:r>
            <a:r>
              <a:rPr lang="zh-CN" altLang="en-US" sz="1000" b="1">
                <a:sym typeface="+mn-ea"/>
              </a:rPr>
              <a:t>二维云台上的应用</a:t>
            </a:r>
            <a:r>
              <a:rPr lang="zh-CN" altLang="en-US" sz="1000">
                <a:sym typeface="+mn-ea"/>
              </a:rPr>
              <a:t>】，比如想跟随其他颜色的物体等，这些知识点都有</a:t>
            </a:r>
            <a:r>
              <a:rPr lang="zh-CN" altLang="en-US" sz="1000">
                <a:sym typeface="+mn-ea"/>
              </a:rPr>
              <a:t>介绍！</a:t>
            </a:r>
            <a:endParaRPr lang="zh-CN" altLang="en-US" sz="1000"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WPS 演示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lbzbky</cp:lastModifiedBy>
  <cp:revision>29</cp:revision>
  <dcterms:created xsi:type="dcterms:W3CDTF">2023-08-09T12:44:00Z</dcterms:created>
  <dcterms:modified xsi:type="dcterms:W3CDTF">2025-08-01T05:37:00Z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2052-12.1.0.21915</vt:lpwstr>
  </property>
</Properties>
</file>