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858000" cy="990346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57250" y="1620798"/>
            <a:ext cx="5143500" cy="344792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57250" y="5201683"/>
            <a:ext cx="5143500" cy="23910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16" y="2469023"/>
            <a:ext cx="5915025" cy="411962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67916" y="6627618"/>
            <a:ext cx="5915025" cy="216641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71488" y="2636375"/>
            <a:ext cx="2914650" cy="62837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71863" y="2636375"/>
            <a:ext cx="2914650" cy="62837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527275"/>
            <a:ext cx="5915025" cy="191423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2381" y="2427758"/>
            <a:ext cx="2901255" cy="118980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381" y="3617565"/>
            <a:ext cx="2901255" cy="532089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71863" y="2427758"/>
            <a:ext cx="2915543" cy="118980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71863" y="3617565"/>
            <a:ext cx="2915543" cy="532089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660240"/>
            <a:ext cx="2211883" cy="231084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15543" y="1425935"/>
            <a:ext cx="3471863" cy="703797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2381" y="2971080"/>
            <a:ext cx="2211883" cy="550429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660240"/>
            <a:ext cx="2211883" cy="231084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915543" y="1425935"/>
            <a:ext cx="3471863" cy="703797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2381" y="2971080"/>
            <a:ext cx="2211883" cy="550429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07756" y="527275"/>
            <a:ext cx="1478756" cy="839284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71488" y="527275"/>
            <a:ext cx="4350544" cy="839284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71488" y="527275"/>
            <a:ext cx="5915025" cy="191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1488" y="2636375"/>
            <a:ext cx="5915025" cy="6283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488" y="9179170"/>
            <a:ext cx="1543050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71713" y="9179170"/>
            <a:ext cx="2314575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843463" y="9179170"/>
            <a:ext cx="1543050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741170" y="318135"/>
            <a:ext cx="337629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sz="2400">
                <a:solidFill>
                  <a:schemeClr val="tx1"/>
                </a:solidFill>
                <a:effectLst/>
              </a:rPr>
              <a:t>O</a:t>
            </a:r>
            <a:r>
              <a:rPr lang="en-US" sz="2400">
                <a:solidFill>
                  <a:schemeClr val="tx1"/>
                </a:solidFill>
                <a:effectLst/>
              </a:rPr>
              <a:t>penMV</a:t>
            </a:r>
            <a:endParaRPr lang="en-US" sz="2400">
              <a:solidFill>
                <a:schemeClr val="tx1"/>
              </a:solidFill>
              <a:effectLst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86000" y="861060"/>
            <a:ext cx="2286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快速上手指南</a:t>
            </a:r>
            <a:endParaRPr lang="zh-CN" altLang="en-US" sz="1400"/>
          </a:p>
        </p:txBody>
      </p:sp>
      <p:sp>
        <p:nvSpPr>
          <p:cNvPr id="6" name="文本框 5"/>
          <p:cNvSpPr txBox="1"/>
          <p:nvPr/>
        </p:nvSpPr>
        <p:spPr>
          <a:xfrm>
            <a:off x="542925" y="1339215"/>
            <a:ext cx="3262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第一步：上电</a:t>
            </a:r>
            <a:endParaRPr lang="zh-CN" altLang="en-US" b="1"/>
          </a:p>
        </p:txBody>
      </p:sp>
      <p:sp>
        <p:nvSpPr>
          <p:cNvPr id="7" name="文本框 6"/>
          <p:cNvSpPr txBox="1"/>
          <p:nvPr/>
        </p:nvSpPr>
        <p:spPr>
          <a:xfrm>
            <a:off x="541020" y="2359025"/>
            <a:ext cx="2887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第二步：功能测试</a:t>
            </a:r>
            <a:endParaRPr lang="zh-CN" altLang="en-US" b="1"/>
          </a:p>
        </p:txBody>
      </p:sp>
      <p:sp>
        <p:nvSpPr>
          <p:cNvPr id="9" name="文本框 8"/>
          <p:cNvSpPr txBox="1"/>
          <p:nvPr/>
        </p:nvSpPr>
        <p:spPr>
          <a:xfrm>
            <a:off x="541655" y="8749030"/>
            <a:ext cx="2887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注意事项</a:t>
            </a:r>
            <a:endParaRPr lang="zh-CN" altLang="en-US" b="1"/>
          </a:p>
        </p:txBody>
      </p:sp>
      <p:sp>
        <p:nvSpPr>
          <p:cNvPr id="10" name="文本框 9"/>
          <p:cNvSpPr txBox="1"/>
          <p:nvPr/>
        </p:nvSpPr>
        <p:spPr>
          <a:xfrm>
            <a:off x="542290" y="2727325"/>
            <a:ext cx="5732780" cy="1368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en-US" altLang="zh-CN" sz="1200"/>
              <a:t>1. </a:t>
            </a:r>
            <a:r>
              <a:rPr lang="zh-CN" altLang="en-US" sz="1200"/>
              <a:t>电脑安装</a:t>
            </a:r>
            <a:r>
              <a:rPr lang="en-US" altLang="zh-CN" sz="1200"/>
              <a:t>OpenMV IDE</a:t>
            </a:r>
            <a:r>
              <a:rPr lang="zh-CN" altLang="en-US" sz="1200"/>
              <a:t>软件（资料中获取，请安装最新版本</a:t>
            </a:r>
            <a:r>
              <a:rPr lang="zh-CN" altLang="en-US" sz="1200"/>
              <a:t>软件）。</a:t>
            </a:r>
            <a:endParaRPr lang="zh-CN" altLang="en-US" sz="1200"/>
          </a:p>
          <a:p>
            <a:pPr>
              <a:lnSpc>
                <a:spcPct val="120000"/>
              </a:lnSpc>
            </a:pPr>
            <a:r>
              <a:rPr lang="en-US" altLang="zh-CN" sz="1200"/>
              <a:t>2. </a:t>
            </a:r>
            <a:r>
              <a:rPr lang="zh-CN" sz="1200"/>
              <a:t>打开</a:t>
            </a:r>
            <a:r>
              <a:rPr lang="en-US" altLang="zh-CN" sz="1200"/>
              <a:t>OpenMV IDE</a:t>
            </a:r>
            <a:r>
              <a:rPr lang="zh-CN" altLang="en-US" sz="1200"/>
              <a:t>软件，点击</a:t>
            </a:r>
            <a:r>
              <a:rPr lang="zh-CN" altLang="en-US" sz="1200"/>
              <a:t>设备连接按钮连接</a:t>
            </a:r>
            <a:r>
              <a:rPr lang="en-US" altLang="zh-CN" sz="1200"/>
              <a:t>OpenMV</a:t>
            </a:r>
            <a:r>
              <a:rPr lang="zh-CN" altLang="en-US" sz="1200"/>
              <a:t>，若提示注册，请点击</a:t>
            </a:r>
            <a:r>
              <a:rPr lang="en-US" altLang="zh-CN" sz="1200"/>
              <a:t>‘</a:t>
            </a:r>
            <a:r>
              <a:rPr lang="zh-CN" altLang="en-US" sz="1200"/>
              <a:t>否</a:t>
            </a:r>
            <a:r>
              <a:rPr lang="en-US" altLang="zh-CN" sz="1200"/>
              <a:t>’</a:t>
            </a:r>
            <a:r>
              <a:rPr lang="zh-CN" altLang="en-US" sz="1200"/>
              <a:t>或</a:t>
            </a:r>
            <a:r>
              <a:rPr lang="en-US" altLang="zh-CN" sz="1200"/>
              <a:t>‘</a:t>
            </a:r>
            <a:r>
              <a:rPr lang="zh-CN" altLang="en-US" sz="1200"/>
              <a:t>取消</a:t>
            </a:r>
            <a:r>
              <a:rPr lang="en-US" altLang="zh-CN" sz="1200"/>
              <a:t>’</a:t>
            </a:r>
            <a:r>
              <a:rPr lang="zh-CN" altLang="en-US" sz="1200"/>
              <a:t>（共弹窗</a:t>
            </a:r>
            <a:r>
              <a:rPr lang="en-US" altLang="zh-CN" sz="1200"/>
              <a:t>3</a:t>
            </a:r>
            <a:r>
              <a:rPr lang="zh-CN" altLang="en-US" sz="1200"/>
              <a:t>次），连接成功后，运行按钮会变绿，如果提示固件有新版本，升级即可，内部文件系统擦除选</a:t>
            </a:r>
            <a:r>
              <a:rPr lang="en-US" altLang="zh-CN" sz="1200"/>
              <a:t>‘</a:t>
            </a:r>
            <a:r>
              <a:rPr lang="zh-CN" altLang="en-US" sz="1200"/>
              <a:t>是</a:t>
            </a:r>
            <a:r>
              <a:rPr lang="en-US" altLang="zh-CN" sz="1200"/>
              <a:t>’</a:t>
            </a:r>
            <a:r>
              <a:rPr lang="zh-CN" altLang="en-US" sz="1200"/>
              <a:t>或</a:t>
            </a:r>
            <a:r>
              <a:rPr lang="en-US" altLang="zh-CN" sz="1200"/>
              <a:t>‘</a:t>
            </a:r>
            <a:r>
              <a:rPr lang="zh-CN" altLang="en-US" sz="1200"/>
              <a:t>否</a:t>
            </a:r>
            <a:r>
              <a:rPr lang="en-US" altLang="zh-CN" sz="1200"/>
              <a:t>’</a:t>
            </a:r>
            <a:r>
              <a:rPr lang="zh-CN" altLang="en-US" sz="1200"/>
              <a:t>均可。</a:t>
            </a:r>
            <a:endParaRPr lang="zh-CN" altLang="en-US" sz="1200"/>
          </a:p>
          <a:p>
            <a:pPr>
              <a:lnSpc>
                <a:spcPct val="120000"/>
              </a:lnSpc>
            </a:pPr>
            <a:r>
              <a:rPr lang="en-US" altLang="zh-CN" sz="1200"/>
              <a:t>3. </a:t>
            </a:r>
            <a:r>
              <a:rPr lang="zh-CN" altLang="en-US" sz="1200"/>
              <a:t>软件默认打开的是</a:t>
            </a:r>
            <a:r>
              <a:rPr lang="en-US" altLang="zh-CN" sz="1200"/>
              <a:t>helloworld</a:t>
            </a:r>
            <a:r>
              <a:rPr lang="zh-CN" altLang="en-US" sz="1200"/>
              <a:t>代码，点击运行按钮，取下</a:t>
            </a:r>
            <a:r>
              <a:rPr lang="en-US" altLang="zh-CN" sz="1200"/>
              <a:t>OpenMV</a:t>
            </a:r>
            <a:r>
              <a:rPr lang="zh-CN" altLang="en-US" sz="1200"/>
              <a:t>摄像头上的盖帽，然后在</a:t>
            </a:r>
            <a:r>
              <a:rPr lang="en-US" altLang="zh-CN" sz="1200"/>
              <a:t>‘</a:t>
            </a:r>
            <a:r>
              <a:rPr lang="zh-CN" altLang="en-US" sz="1200"/>
              <a:t>帧缓冲区</a:t>
            </a:r>
            <a:r>
              <a:rPr lang="en-US" altLang="zh-CN" sz="1200"/>
              <a:t>’</a:t>
            </a:r>
            <a:r>
              <a:rPr lang="zh-CN" altLang="en-US" sz="1200"/>
              <a:t>可以看到</a:t>
            </a:r>
            <a:r>
              <a:rPr lang="en-US" altLang="zh-CN" sz="1200"/>
              <a:t>OpenMV</a:t>
            </a:r>
            <a:r>
              <a:rPr lang="zh-CN" altLang="en-US" sz="1200"/>
              <a:t>摄像头</a:t>
            </a:r>
            <a:r>
              <a:rPr lang="zh-CN" altLang="en-US" sz="1200"/>
              <a:t>画面。</a:t>
            </a:r>
            <a:endParaRPr lang="zh-CN" altLang="en-US" sz="1200"/>
          </a:p>
        </p:txBody>
      </p:sp>
      <p:sp>
        <p:nvSpPr>
          <p:cNvPr id="15" name="文本框 14"/>
          <p:cNvSpPr txBox="1"/>
          <p:nvPr/>
        </p:nvSpPr>
        <p:spPr>
          <a:xfrm>
            <a:off x="474980" y="9097010"/>
            <a:ext cx="5670550" cy="543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sz="1400"/>
              <a:t>产品拿到手先试一下上述功能，保证硬件到手是完好的再继续使用，如有问题，请立即联系客服处理。</a:t>
            </a:r>
            <a:endParaRPr lang="en-US" altLang="zh-CN" sz="1400"/>
          </a:p>
        </p:txBody>
      </p:sp>
      <p:sp>
        <p:nvSpPr>
          <p:cNvPr id="16" name="文本框 15"/>
          <p:cNvSpPr txBox="1"/>
          <p:nvPr/>
        </p:nvSpPr>
        <p:spPr>
          <a:xfrm>
            <a:off x="542925" y="6720205"/>
            <a:ext cx="2887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第三步：关于</a:t>
            </a:r>
            <a:r>
              <a:rPr lang="zh-CN" altLang="en-US" b="1"/>
              <a:t>供电</a:t>
            </a:r>
            <a:endParaRPr lang="zh-CN" altLang="en-US" b="1"/>
          </a:p>
        </p:txBody>
      </p:sp>
      <p:sp>
        <p:nvSpPr>
          <p:cNvPr id="19" name="文本框 18"/>
          <p:cNvSpPr txBox="1"/>
          <p:nvPr/>
        </p:nvSpPr>
        <p:spPr>
          <a:xfrm>
            <a:off x="541655" y="1728470"/>
            <a:ext cx="2411730" cy="342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/>
              <a:t>使用数据线将</a:t>
            </a:r>
            <a:r>
              <a:rPr lang="en-US" altLang="zh-CN" sz="1200"/>
              <a:t>OpenMV</a:t>
            </a:r>
            <a:r>
              <a:rPr lang="zh-CN" altLang="en-US" sz="1200"/>
              <a:t>连接</a:t>
            </a:r>
            <a:r>
              <a:rPr lang="zh-CN" altLang="en-US" sz="1200"/>
              <a:t>电脑。</a:t>
            </a:r>
            <a:endParaRPr lang="zh-CN" altLang="en-US" sz="12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7125" y="7122795"/>
            <a:ext cx="1143000" cy="151511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10211" r="8870"/>
          <a:stretch>
            <a:fillRect/>
          </a:stretch>
        </p:blipFill>
        <p:spPr>
          <a:xfrm>
            <a:off x="4989830" y="7109460"/>
            <a:ext cx="1155700" cy="152971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42290" y="7063105"/>
            <a:ext cx="2867025" cy="1569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zh-CN" altLang="en-US" sz="1200"/>
              <a:t>供电方式多选一：</a:t>
            </a:r>
            <a:endParaRPr lang="zh-CN" altLang="en-US" sz="1200"/>
          </a:p>
          <a:p>
            <a:pPr>
              <a:lnSpc>
                <a:spcPct val="120000"/>
              </a:lnSpc>
            </a:pPr>
            <a:r>
              <a:rPr lang="en-US" altLang="zh-CN" sz="1200"/>
              <a:t>1. </a:t>
            </a:r>
            <a:r>
              <a:rPr lang="zh-CN" altLang="en-US" sz="1200"/>
              <a:t>直接连</a:t>
            </a:r>
            <a:r>
              <a:rPr lang="en-US" altLang="zh-CN" sz="1200"/>
              <a:t>USB</a:t>
            </a:r>
            <a:r>
              <a:rPr lang="zh-CN" altLang="en-US" sz="1200"/>
              <a:t>口供电。</a:t>
            </a:r>
            <a:endParaRPr lang="zh-CN" altLang="en-US" sz="1200"/>
          </a:p>
          <a:p>
            <a:pPr>
              <a:lnSpc>
                <a:spcPct val="120000"/>
              </a:lnSpc>
            </a:pPr>
            <a:r>
              <a:rPr lang="en-US" altLang="zh-CN" sz="1200"/>
              <a:t>2. OpenMV</a:t>
            </a:r>
            <a:r>
              <a:rPr lang="zh-CN" altLang="en-US" sz="1200"/>
              <a:t>板载锂电池接口供电。</a:t>
            </a:r>
            <a:endParaRPr lang="zh-CN" altLang="en-US" sz="1200"/>
          </a:p>
          <a:p>
            <a:pPr>
              <a:lnSpc>
                <a:spcPct val="120000"/>
              </a:lnSpc>
            </a:pPr>
            <a:r>
              <a:rPr lang="en-US" altLang="zh-CN" sz="1200"/>
              <a:t>3. </a:t>
            </a:r>
            <a:r>
              <a:rPr lang="zh-CN" altLang="en-US" sz="1200"/>
              <a:t>扩展板电池接口供电。</a:t>
            </a:r>
            <a:endParaRPr lang="zh-CN" altLang="en-US" sz="1200"/>
          </a:p>
          <a:p>
            <a:pPr>
              <a:lnSpc>
                <a:spcPct val="120000"/>
              </a:lnSpc>
            </a:pPr>
            <a:r>
              <a:rPr lang="en-US" altLang="zh-CN" sz="1200"/>
              <a:t>4. </a:t>
            </a:r>
            <a:r>
              <a:rPr lang="zh-CN" altLang="en-US" sz="1200"/>
              <a:t>扩展板总线接口供电。</a:t>
            </a:r>
            <a:endParaRPr lang="zh-CN" altLang="en-US" sz="1200"/>
          </a:p>
          <a:p>
            <a:pPr>
              <a:lnSpc>
                <a:spcPct val="120000"/>
              </a:lnSpc>
            </a:pPr>
            <a:r>
              <a:rPr lang="zh-CN" altLang="en-US" sz="1200"/>
              <a:t>电源的额定电流需大于</a:t>
            </a:r>
            <a:r>
              <a:rPr lang="en-US" altLang="zh-CN" sz="1200"/>
              <a:t>250MA</a:t>
            </a:r>
            <a:r>
              <a:rPr lang="zh-CN" altLang="en-US" sz="1200">
                <a:sym typeface="+mn-ea"/>
              </a:rPr>
              <a:t>。</a:t>
            </a:r>
            <a:endParaRPr lang="en-US" altLang="zh-CN" sz="1200"/>
          </a:p>
          <a:p>
            <a:pPr>
              <a:lnSpc>
                <a:spcPct val="120000"/>
              </a:lnSpc>
            </a:pPr>
            <a:r>
              <a:rPr lang="zh-CN" altLang="en-US" sz="1200"/>
              <a:t>注意：不要通过</a:t>
            </a:r>
            <a:r>
              <a:rPr lang="en-US" altLang="zh-CN" sz="1200">
                <a:sym typeface="+mn-ea"/>
              </a:rPr>
              <a:t>3.3V</a:t>
            </a:r>
            <a:r>
              <a:rPr lang="zh-CN" altLang="en-US" sz="1200">
                <a:sym typeface="+mn-ea"/>
              </a:rPr>
              <a:t>引脚给</a:t>
            </a:r>
            <a:r>
              <a:rPr lang="en-US" altLang="zh-CN" sz="1200">
                <a:sym typeface="+mn-ea"/>
              </a:rPr>
              <a:t>OpenMV</a:t>
            </a:r>
            <a:r>
              <a:rPr lang="zh-CN" altLang="en-US" sz="1200"/>
              <a:t>供电。</a:t>
            </a:r>
            <a:endParaRPr lang="zh-CN" altLang="en-US" sz="120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05" y="4151630"/>
            <a:ext cx="5509260" cy="251269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rcRect l="7283" r="11516" b="3653"/>
          <a:stretch>
            <a:fillRect/>
          </a:stretch>
        </p:blipFill>
        <p:spPr>
          <a:xfrm>
            <a:off x="3667125" y="1399540"/>
            <a:ext cx="1186180" cy="132778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158750"/>
            <a:ext cx="971550" cy="12623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</Words>
  <Application>WPS 演示</Application>
  <PresentationFormat>宽屏</PresentationFormat>
  <Paragraphs>28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JiangLiu</dc:creator>
  <cp:lastModifiedBy>自强</cp:lastModifiedBy>
  <cp:revision>25</cp:revision>
  <dcterms:created xsi:type="dcterms:W3CDTF">2023-08-09T12:44:00Z</dcterms:created>
  <dcterms:modified xsi:type="dcterms:W3CDTF">2025-02-28T04:42:34Z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2052-12.1.0.20305</vt:lpwstr>
  </property>
</Properties>
</file>